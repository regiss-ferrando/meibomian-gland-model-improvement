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4F953F-6C37-C4D4-DD31-5087A70768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6418E56-5F87-1E65-1B59-8FF9962C53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ECEB941-BF8F-1835-256A-592392D15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DD59-DFC1-41F9-9982-1DCEBA4D9DBC}" type="datetimeFigureOut">
              <a:rPr lang="fr-FR" smtClean="0"/>
              <a:t>15/05/2026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0FB0513-1E42-8676-75B5-AC02BEDC4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7CA2302-9F5A-62E1-7293-49BE1AF46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37A19-CA76-4F01-AF2C-DD5C53971EA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5307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7E2C5D-7238-3421-4496-BF15BCB00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3739EA2-4F27-78A3-7385-7D22B28BE3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3938BA7-4D0D-1D50-7D4F-9222952B2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DD59-DFC1-41F9-9982-1DCEBA4D9DBC}" type="datetimeFigureOut">
              <a:rPr lang="fr-FR" smtClean="0"/>
              <a:t>15/05/2026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F1DA24C-D3AD-4C8E-ABBA-4CDC0045B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B0F3E5F-C52D-CFD7-2A84-1600B0E73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37A19-CA76-4F01-AF2C-DD5C53971EA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8025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717422-8075-7888-E496-D0C1DC34B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B832F2B-7C3F-03A6-EB47-0419DE8F68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51EE92E-C6CE-F86D-F394-DCF8E294C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DD59-DFC1-41F9-9982-1DCEBA4D9DBC}" type="datetimeFigureOut">
              <a:rPr lang="fr-FR" smtClean="0"/>
              <a:t>15/05/2026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747DA37-BE41-1BD3-50CC-5F99AB099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C01BFC4-EB09-A86F-9B2E-335C24252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37A19-CA76-4F01-AF2C-DD5C53971EA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186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5B5426-FC46-FB13-1249-95BF79566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A526375-C6F2-8526-DD55-D154FB355C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B6F53A5-0ACE-0CE9-DAD0-B5505EFC03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413403B-BC8F-BBD0-50E0-2037724D0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DD59-DFC1-41F9-9982-1DCEBA4D9DBC}" type="datetimeFigureOut">
              <a:rPr lang="fr-FR" smtClean="0"/>
              <a:t>15/05/2026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EC3B2C8-38FB-83A9-1AAB-9A62EC9F1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D9B28BC-3DDF-A2DF-6427-67ED9202F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37A19-CA76-4F01-AF2C-DD5C53971EA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4494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4E83F7-02AC-C0DB-A72E-6EE77D6CD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4DAA488-63EB-9A72-F859-FF929B7CE3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3428285-ABEA-4C46-077F-39B7E280C6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69E8441-3458-91F6-D522-2D800426E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A2B9C1E-820E-612D-BAFE-72DD9D52F3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23133F4-1BB8-743A-5C5B-F4FD09F5F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DD59-DFC1-41F9-9982-1DCEBA4D9DBC}" type="datetimeFigureOut">
              <a:rPr lang="fr-FR" smtClean="0"/>
              <a:t>15/05/2026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008C31A-CCB6-8169-8EF3-776406401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C1E0D04-6A49-506F-31A3-C80F3EFE7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37A19-CA76-4F01-AF2C-DD5C53971EA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8488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6072A1-1424-7B31-234E-71D67D69C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41ED71E-7962-691E-296B-B714DDEFE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DD59-DFC1-41F9-9982-1DCEBA4D9DBC}" type="datetimeFigureOut">
              <a:rPr lang="fr-FR" smtClean="0"/>
              <a:t>15/05/2026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D1CF252-C886-E40F-8013-6DEBA6FC4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9A85868-CBC7-40A3-3FD2-DC04E29F4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37A19-CA76-4F01-AF2C-DD5C53971EA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6652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6C30A62-720C-CC13-8A3E-0BB4BC0F7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DD59-DFC1-41F9-9982-1DCEBA4D9DBC}" type="datetimeFigureOut">
              <a:rPr lang="fr-FR" smtClean="0"/>
              <a:t>15/05/2026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9F6FAA5-2E6B-C24F-A77F-D245133E9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55DBD93-90F2-E4D9-1248-4EBBBA0C4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37A19-CA76-4F01-AF2C-DD5C53971EA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9266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7F3A2A-041C-BA8E-5176-163D14C83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583F660-D2BD-99D4-EB59-46994BA5F4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4C401A0-AC08-E2E7-4583-093CBD4868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6C6363C-0A90-7C0F-CFE0-BB21902AF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DD59-DFC1-41F9-9982-1DCEBA4D9DBC}" type="datetimeFigureOut">
              <a:rPr lang="fr-FR" smtClean="0"/>
              <a:t>15/05/2026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98F8932-1DD3-428A-D2FE-AF7AEFFBB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A93B113-5EBE-75BA-A9BC-7402F7058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37A19-CA76-4F01-AF2C-DD5C53971EA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2918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0459FF-43AE-5171-1C4E-992F59F12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5286149-50BD-B724-4F48-0171DA3403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133399D-8DDC-C32A-2A58-C13DCE568B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58A6B5E-9768-AF91-2336-0A8B7EC46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DD59-DFC1-41F9-9982-1DCEBA4D9DBC}" type="datetimeFigureOut">
              <a:rPr lang="fr-FR" smtClean="0"/>
              <a:t>15/05/2026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99ADE49-BD12-069A-1D44-D676C638F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EBB0796-9953-35BB-6FB7-FEA5B69CD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37A19-CA76-4F01-AF2C-DD5C53971EA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4703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E457BB-C4A0-590E-486C-6C03934CB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96BD673-53FB-6F0A-EDAC-CFF7955A20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05597FE-67C0-AC26-7907-6D0649D61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DD59-DFC1-41F9-9982-1DCEBA4D9DBC}" type="datetimeFigureOut">
              <a:rPr lang="fr-FR" smtClean="0"/>
              <a:t>15/05/2026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C177E97-0A58-6F71-6064-46C084D0D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FDFC3F-4995-F5C5-D233-89DB5F5AC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37A19-CA76-4F01-AF2C-DD5C53971EA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6810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6214F0D-92BC-7E9E-EE08-F69BAED7E3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399D552-295F-1F03-BEB6-AC618C334A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10C4A21-B498-ED87-BBDB-40F35547F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DD59-DFC1-41F9-9982-1DCEBA4D9DBC}" type="datetimeFigureOut">
              <a:rPr lang="fr-FR" smtClean="0"/>
              <a:t>15/05/2026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B475FA6-05D4-0654-016A-75941905E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887500E-28C4-A87C-709D-CC3F3FFD3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37A19-CA76-4F01-AF2C-DD5C53971EA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4221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6E86712-B33F-14D7-BD13-F67F1ABB0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4687768-689A-3B46-A9AC-838588BD6A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FE9C014-F5FD-006C-D678-8EA651C40D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A6DD59-DFC1-41F9-9982-1DCEBA4D9DBC}" type="datetimeFigureOut">
              <a:rPr lang="fr-FR" smtClean="0"/>
              <a:t>15/05/2026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B436606-85DE-A4D5-9648-84557BBD38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EB9C2E2-2D67-3161-386B-63DEE8B141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637A19-CA76-4F01-AF2C-DD5C53971EA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4015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EB097D6-75B1-5ED8-9264-7B8EEE8935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7101" y="735283"/>
            <a:ext cx="4978399" cy="3165045"/>
          </a:xfrm>
        </p:spPr>
        <p:txBody>
          <a:bodyPr anchor="b">
            <a:normAutofit/>
          </a:bodyPr>
          <a:lstStyle/>
          <a:p>
            <a:pPr algn="l"/>
            <a:r>
              <a:rPr lang="fr-FR" sz="5200"/>
              <a:t>Eye and AI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3CA376A-662D-5BE8-9C0E-55D425882A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7101" y="4078423"/>
            <a:ext cx="4978399" cy="2058657"/>
          </a:xfrm>
        </p:spPr>
        <p:txBody>
          <a:bodyPr>
            <a:normAutofit/>
          </a:bodyPr>
          <a:lstStyle/>
          <a:p>
            <a:pPr algn="l"/>
            <a:r>
              <a:rPr lang="fr-FR" dirty="0" err="1"/>
              <a:t>Recent</a:t>
            </a:r>
            <a:r>
              <a:rPr lang="fr-FR" dirty="0"/>
              <a:t> </a:t>
            </a:r>
            <a:r>
              <a:rPr lang="fr-FR" dirty="0" err="1"/>
              <a:t>researches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a focus on Dry Eye</a:t>
            </a:r>
            <a:endParaRPr lang="fr-FR"/>
          </a:p>
        </p:txBody>
      </p:sp>
      <p:pic>
        <p:nvPicPr>
          <p:cNvPr id="7" name="Graphic 6" descr="Œil">
            <a:extLst>
              <a:ext uri="{FF2B5EF4-FFF2-40B4-BE49-F238E27FC236}">
                <a16:creationId xmlns:a16="http://schemas.microsoft.com/office/drawing/2014/main" id="{FEF6B6DA-12B1-44EC-C531-3CF7986354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9" name="Graphic 8" descr="Œil">
            <a:extLst>
              <a:ext uri="{FF2B5EF4-FFF2-40B4-BE49-F238E27FC236}">
                <a16:creationId xmlns:a16="http://schemas.microsoft.com/office/drawing/2014/main" id="{59DE7F74-FE33-4FE3-9A6E-BD12E1AE6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455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B579A5-24A4-812D-6530-C7FC4DA99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Previous</a:t>
            </a:r>
            <a:r>
              <a:rPr lang="fr-FR" dirty="0"/>
              <a:t> </a:t>
            </a:r>
            <a:r>
              <a:rPr lang="fr-FR" dirty="0" err="1"/>
              <a:t>research</a:t>
            </a:r>
            <a:r>
              <a:rPr lang="fr-FR" dirty="0"/>
              <a:t> focus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B8BFC2-0BB8-1973-CA68-BD369C7077AB}"/>
              </a:ext>
            </a:extLst>
          </p:cNvPr>
          <p:cNvSpPr/>
          <p:nvPr/>
        </p:nvSpPr>
        <p:spPr>
          <a:xfrm>
            <a:off x="6025243" y="1690688"/>
            <a:ext cx="141514" cy="48021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A3AA2E2-04FA-F398-E952-22052FDCD6D9}"/>
              </a:ext>
            </a:extLst>
          </p:cNvPr>
          <p:cNvSpPr txBox="1"/>
          <p:nvPr/>
        </p:nvSpPr>
        <p:spPr>
          <a:xfrm>
            <a:off x="694944" y="1938528"/>
            <a:ext cx="479145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err="1"/>
              <a:t>Medical</a:t>
            </a:r>
            <a:r>
              <a:rPr lang="fr-FR" sz="2800" b="1" dirty="0"/>
              <a:t> </a:t>
            </a:r>
            <a:r>
              <a:rPr lang="fr-FR" sz="2800" b="1" dirty="0" err="1"/>
              <a:t>diagnosis</a:t>
            </a:r>
            <a:endParaRPr lang="fr-FR" sz="2800" b="1" dirty="0"/>
          </a:p>
          <a:p>
            <a:endParaRPr lang="fr-FR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dirty="0" err="1"/>
              <a:t>Diabetic</a:t>
            </a:r>
            <a:r>
              <a:rPr lang="fr-FR" sz="2800" dirty="0"/>
              <a:t> </a:t>
            </a:r>
            <a:r>
              <a:rPr lang="fr-FR" sz="2800" dirty="0" err="1"/>
              <a:t>Retinopathy</a:t>
            </a:r>
            <a:endParaRPr lang="fr-FR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dirty="0" err="1"/>
              <a:t>Glaucoma</a:t>
            </a:r>
            <a:endParaRPr lang="fr-FR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dirty="0" err="1"/>
              <a:t>Cataract</a:t>
            </a:r>
            <a:endParaRPr lang="fr-FR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dirty="0" err="1"/>
              <a:t>Myopia</a:t>
            </a:r>
            <a:r>
              <a:rPr lang="fr-FR" sz="2800" dirty="0"/>
              <a:t> </a:t>
            </a:r>
            <a:r>
              <a:rPr lang="fr-FR" sz="2800" dirty="0" err="1"/>
              <a:t>Prediction</a:t>
            </a:r>
            <a:endParaRPr lang="fr-FR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dirty="0" err="1"/>
              <a:t>Retinopathy</a:t>
            </a:r>
            <a:r>
              <a:rPr lang="fr-FR" sz="2800" dirty="0"/>
              <a:t> of </a:t>
            </a:r>
            <a:r>
              <a:rPr lang="fr-FR" sz="2800" dirty="0" err="1"/>
              <a:t>prematurity</a:t>
            </a:r>
            <a:r>
              <a:rPr lang="fr-FR" sz="2800" dirty="0"/>
              <a:t> (ROP)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dirty="0"/>
              <a:t>Age-</a:t>
            </a:r>
            <a:r>
              <a:rPr lang="fr-FR" sz="2800" dirty="0" err="1"/>
              <a:t>related</a:t>
            </a:r>
            <a:r>
              <a:rPr lang="fr-FR" sz="2800" dirty="0"/>
              <a:t> </a:t>
            </a:r>
            <a:r>
              <a:rPr lang="fr-FR" sz="2800" dirty="0" err="1"/>
              <a:t>Macular</a:t>
            </a:r>
            <a:r>
              <a:rPr lang="fr-FR" sz="2800" dirty="0"/>
              <a:t> </a:t>
            </a:r>
            <a:r>
              <a:rPr lang="fr-FR" sz="2800" dirty="0" err="1"/>
              <a:t>Degeneration</a:t>
            </a:r>
            <a:r>
              <a:rPr lang="fr-FR" sz="2800" dirty="0"/>
              <a:t> (AMD)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5CAC648-657B-04BD-34C0-1231F3A79E6F}"/>
              </a:ext>
            </a:extLst>
          </p:cNvPr>
          <p:cNvSpPr txBox="1"/>
          <p:nvPr/>
        </p:nvSpPr>
        <p:spPr>
          <a:xfrm>
            <a:off x="8293608" y="3568561"/>
            <a:ext cx="20109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Eye </a:t>
            </a:r>
            <a:r>
              <a:rPr lang="fr-FR" sz="2800" b="1" dirty="0" err="1"/>
              <a:t>Tracking</a:t>
            </a:r>
            <a:endParaRPr lang="fr-FR" sz="2800" b="1" dirty="0"/>
          </a:p>
        </p:txBody>
      </p:sp>
    </p:spTree>
    <p:extLst>
      <p:ext uri="{BB962C8B-B14F-4D97-AF65-F5344CB8AC3E}">
        <p14:creationId xmlns:p14="http://schemas.microsoft.com/office/powerpoint/2010/main" val="726960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984746-49A2-C47C-FA2E-AA99EFA6B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Summary</a:t>
            </a:r>
            <a:r>
              <a:rPr lang="fr-FR" dirty="0"/>
              <a:t> table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5F327321-05AA-8FB5-D0B2-AECD200ED3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0749" y="1690688"/>
            <a:ext cx="9750501" cy="4344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187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B114D3-50DA-AA8A-7567-111D93219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Dry </a:t>
            </a:r>
            <a:r>
              <a:rPr lang="fr-FR" dirty="0" err="1"/>
              <a:t>eye</a:t>
            </a:r>
            <a:r>
              <a:rPr lang="fr-FR" dirty="0"/>
              <a:t> – </a:t>
            </a:r>
            <a:r>
              <a:rPr lang="fr-FR" dirty="0" err="1"/>
              <a:t>Detectable</a:t>
            </a:r>
            <a:r>
              <a:rPr lang="fr-FR" dirty="0"/>
              <a:t> </a:t>
            </a:r>
            <a:r>
              <a:rPr lang="fr-FR" dirty="0" err="1"/>
              <a:t>symptoms</a:t>
            </a:r>
            <a:endParaRPr lang="fr-FR" dirty="0"/>
          </a:p>
        </p:txBody>
      </p:sp>
      <p:pic>
        <p:nvPicPr>
          <p:cNvPr id="1026" name="Picture 2" descr="Dry Eye Syndrome">
            <a:extLst>
              <a:ext uri="{FF2B5EF4-FFF2-40B4-BE49-F238E27FC236}">
                <a16:creationId xmlns:a16="http://schemas.microsoft.com/office/drawing/2014/main" id="{F925F281-A0A3-4A15-DAB3-D9B04FC380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88" t="16560" b="10483"/>
          <a:stretch>
            <a:fillRect/>
          </a:stretch>
        </p:blipFill>
        <p:spPr bwMode="auto">
          <a:xfrm>
            <a:off x="3799114" y="1567544"/>
            <a:ext cx="5279572" cy="275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A298A260-6E66-406D-F9E8-D1A4DDC90D03}"/>
              </a:ext>
            </a:extLst>
          </p:cNvPr>
          <p:cNvCxnSpPr>
            <a:cxnSpLocks/>
          </p:cNvCxnSpPr>
          <p:nvPr/>
        </p:nvCxnSpPr>
        <p:spPr>
          <a:xfrm flipV="1">
            <a:off x="6672943" y="3603171"/>
            <a:ext cx="0" cy="168728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68FA3F0B-29BC-F3FA-FB83-98F741BB7B56}"/>
              </a:ext>
            </a:extLst>
          </p:cNvPr>
          <p:cNvCxnSpPr>
            <a:cxnSpLocks/>
          </p:cNvCxnSpPr>
          <p:nvPr/>
        </p:nvCxnSpPr>
        <p:spPr>
          <a:xfrm>
            <a:off x="3072384" y="2615184"/>
            <a:ext cx="2651760" cy="49377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3B433D82-486F-57DB-E423-282D3F21F407}"/>
              </a:ext>
            </a:extLst>
          </p:cNvPr>
          <p:cNvCxnSpPr>
            <a:cxnSpLocks/>
          </p:cNvCxnSpPr>
          <p:nvPr/>
        </p:nvCxnSpPr>
        <p:spPr>
          <a:xfrm flipH="1" flipV="1">
            <a:off x="7534656" y="3840480"/>
            <a:ext cx="1544030" cy="60633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5DFB6DF1-4048-55DA-3269-B4EE5AE80214}"/>
              </a:ext>
            </a:extLst>
          </p:cNvPr>
          <p:cNvSpPr txBox="1"/>
          <p:nvPr/>
        </p:nvSpPr>
        <p:spPr>
          <a:xfrm>
            <a:off x="5098982" y="5520738"/>
            <a:ext cx="28876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Tear </a:t>
            </a:r>
            <a:r>
              <a:rPr lang="fr-FR" sz="2400" b="1" dirty="0" err="1"/>
              <a:t>meniscus</a:t>
            </a:r>
            <a:r>
              <a:rPr lang="fr-FR" sz="2400" b="1" dirty="0"/>
              <a:t> </a:t>
            </a:r>
            <a:r>
              <a:rPr lang="fr-FR" sz="2400" b="1" dirty="0" err="1"/>
              <a:t>height</a:t>
            </a:r>
            <a:endParaRPr lang="fr-FR" sz="2400" b="1" dirty="0"/>
          </a:p>
          <a:p>
            <a:r>
              <a:rPr lang="fr-FR" sz="2400" b="1" dirty="0"/>
              <a:t>and area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F0768A18-8B59-195A-A7CE-B4FD6B08A549}"/>
              </a:ext>
            </a:extLst>
          </p:cNvPr>
          <p:cNvSpPr txBox="1"/>
          <p:nvPr/>
        </p:nvSpPr>
        <p:spPr>
          <a:xfrm>
            <a:off x="975038" y="2173506"/>
            <a:ext cx="1969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err="1"/>
              <a:t>Ocular</a:t>
            </a:r>
            <a:r>
              <a:rPr lang="fr-FR" sz="2400" dirty="0"/>
              <a:t> surface </a:t>
            </a:r>
            <a:r>
              <a:rPr lang="fr-FR" sz="2400" dirty="0" err="1"/>
              <a:t>morphology</a:t>
            </a:r>
            <a:endParaRPr lang="fr-FR" sz="2400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A3C6EDF4-0395-29A8-1187-1E442AAB4C09}"/>
              </a:ext>
            </a:extLst>
          </p:cNvPr>
          <p:cNvSpPr txBox="1"/>
          <p:nvPr/>
        </p:nvSpPr>
        <p:spPr>
          <a:xfrm>
            <a:off x="1020162" y="4689741"/>
            <a:ext cx="239905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Blink pattern and </a:t>
            </a:r>
          </a:p>
          <a:p>
            <a:r>
              <a:rPr lang="fr-FR" sz="2400" dirty="0" err="1"/>
              <a:t>frequency</a:t>
            </a:r>
            <a:endParaRPr lang="fr-FR" sz="2400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7069C201-CF13-2B59-8470-CDEE287C6EE5}"/>
              </a:ext>
            </a:extLst>
          </p:cNvPr>
          <p:cNvSpPr txBox="1"/>
          <p:nvPr/>
        </p:nvSpPr>
        <p:spPr>
          <a:xfrm>
            <a:off x="8727142" y="4568277"/>
            <a:ext cx="30175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Meibomian</a:t>
            </a:r>
            <a:r>
              <a:rPr lang="fr-FR" sz="2400" dirty="0"/>
              <a:t> gland</a:t>
            </a:r>
          </a:p>
          <a:p>
            <a:r>
              <a:rPr lang="fr-FR" sz="2400" dirty="0"/>
              <a:t>structure and drop out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4D40257A-BF9A-B6C9-968C-4674F0DF5F9B}"/>
              </a:ext>
            </a:extLst>
          </p:cNvPr>
          <p:cNvSpPr txBox="1"/>
          <p:nvPr/>
        </p:nvSpPr>
        <p:spPr>
          <a:xfrm>
            <a:off x="9345644" y="2359217"/>
            <a:ext cx="23614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Tear film </a:t>
            </a:r>
            <a:r>
              <a:rPr lang="fr-FR" sz="2400" dirty="0" err="1"/>
              <a:t>breakup</a:t>
            </a:r>
            <a:endParaRPr lang="fr-FR" sz="2400" dirty="0"/>
          </a:p>
          <a:p>
            <a:r>
              <a:rPr lang="fr-FR" sz="2400" dirty="0"/>
              <a:t>patterns</a:t>
            </a:r>
          </a:p>
        </p:txBody>
      </p:sp>
    </p:spTree>
    <p:extLst>
      <p:ext uri="{BB962C8B-B14F-4D97-AF65-F5344CB8AC3E}">
        <p14:creationId xmlns:p14="http://schemas.microsoft.com/office/powerpoint/2010/main" val="591378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6C54D1-2446-9DE6-DB56-4BB416A91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Required</a:t>
            </a:r>
            <a:r>
              <a:rPr lang="fr-FR" dirty="0"/>
              <a:t> </a:t>
            </a:r>
            <a:r>
              <a:rPr lang="fr-FR" dirty="0" err="1"/>
              <a:t>equipments</a:t>
            </a:r>
            <a:r>
              <a:rPr lang="fr-FR" dirty="0"/>
              <a:t> and technologies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D0EF99-845A-3E55-6A79-C1C6060C5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Near-</a:t>
            </a:r>
            <a:r>
              <a:rPr lang="fr-FR" dirty="0" err="1"/>
              <a:t>eye</a:t>
            </a:r>
            <a:r>
              <a:rPr lang="fr-FR" dirty="0"/>
              <a:t> RGB/IR Cameras for </a:t>
            </a:r>
            <a:r>
              <a:rPr lang="fr-FR" dirty="0" err="1"/>
              <a:t>capturing</a:t>
            </a:r>
            <a:r>
              <a:rPr lang="fr-FR" dirty="0"/>
              <a:t> </a:t>
            </a:r>
            <a:r>
              <a:rPr lang="fr-FR" dirty="0" err="1"/>
              <a:t>ocular</a:t>
            </a:r>
            <a:r>
              <a:rPr lang="fr-FR" dirty="0"/>
              <a:t> surface and </a:t>
            </a:r>
            <a:r>
              <a:rPr lang="fr-FR" dirty="0" err="1"/>
              <a:t>tear</a:t>
            </a:r>
            <a:r>
              <a:rPr lang="fr-FR" dirty="0"/>
              <a:t> </a:t>
            </a:r>
            <a:r>
              <a:rPr lang="fr-FR" dirty="0" err="1"/>
              <a:t>meniscus</a:t>
            </a:r>
            <a:r>
              <a:rPr lang="fr-FR" dirty="0"/>
              <a:t> (</a:t>
            </a:r>
            <a:r>
              <a:rPr lang="fr-FR" dirty="0" err="1"/>
              <a:t>already</a:t>
            </a:r>
            <a:r>
              <a:rPr lang="fr-FR" dirty="0"/>
              <a:t> </a:t>
            </a:r>
            <a:r>
              <a:rPr lang="fr-FR" dirty="0" err="1"/>
              <a:t>present</a:t>
            </a:r>
            <a:r>
              <a:rPr lang="fr-FR" dirty="0"/>
              <a:t>)</a:t>
            </a:r>
          </a:p>
          <a:p>
            <a:endParaRPr lang="fr-FR" dirty="0"/>
          </a:p>
          <a:p>
            <a:r>
              <a:rPr lang="fr-FR" dirty="0"/>
              <a:t>Video </a:t>
            </a:r>
            <a:r>
              <a:rPr lang="fr-FR" dirty="0" err="1"/>
              <a:t>recording</a:t>
            </a:r>
            <a:r>
              <a:rPr lang="fr-FR" dirty="0"/>
              <a:t> </a:t>
            </a:r>
            <a:r>
              <a:rPr lang="fr-FR" dirty="0" err="1"/>
              <a:t>capability</a:t>
            </a:r>
            <a:r>
              <a:rPr lang="fr-FR" dirty="0"/>
              <a:t> for </a:t>
            </a:r>
            <a:r>
              <a:rPr lang="fr-FR" dirty="0" err="1"/>
              <a:t>capturing</a:t>
            </a:r>
            <a:r>
              <a:rPr lang="fr-FR" dirty="0"/>
              <a:t> </a:t>
            </a:r>
            <a:r>
              <a:rPr lang="fr-FR" dirty="0" err="1"/>
              <a:t>blink</a:t>
            </a:r>
            <a:r>
              <a:rPr lang="fr-FR" dirty="0"/>
              <a:t> and </a:t>
            </a:r>
            <a:r>
              <a:rPr lang="fr-FR" dirty="0" err="1"/>
              <a:t>tear</a:t>
            </a:r>
            <a:r>
              <a:rPr lang="fr-FR" dirty="0"/>
              <a:t> film </a:t>
            </a:r>
            <a:r>
              <a:rPr lang="fr-FR" dirty="0" err="1"/>
              <a:t>breakup</a:t>
            </a:r>
            <a:r>
              <a:rPr lang="fr-FR" dirty="0"/>
              <a:t> patterns</a:t>
            </a:r>
          </a:p>
          <a:p>
            <a:endParaRPr lang="fr-FR" dirty="0"/>
          </a:p>
          <a:p>
            <a:r>
              <a:rPr lang="fr-FR" dirty="0" err="1"/>
              <a:t>Infrared</a:t>
            </a:r>
            <a:r>
              <a:rPr lang="fr-FR" dirty="0"/>
              <a:t> illuminations for </a:t>
            </a:r>
            <a:r>
              <a:rPr lang="fr-FR" dirty="0" err="1"/>
              <a:t>meibomian</a:t>
            </a:r>
            <a:r>
              <a:rPr lang="fr-FR" dirty="0"/>
              <a:t> gland </a:t>
            </a:r>
            <a:r>
              <a:rPr lang="fr-FR" dirty="0" err="1"/>
              <a:t>imaging</a:t>
            </a:r>
            <a:r>
              <a:rPr lang="fr-FR" dirty="0"/>
              <a:t> (</a:t>
            </a:r>
            <a:r>
              <a:rPr lang="fr-FR" dirty="0" err="1"/>
              <a:t>should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easy</a:t>
            </a:r>
            <a:r>
              <a:rPr lang="fr-FR" dirty="0"/>
              <a:t> to </a:t>
            </a:r>
            <a:r>
              <a:rPr lang="fr-FR" dirty="0" err="1"/>
              <a:t>implement</a:t>
            </a:r>
            <a:r>
              <a:rPr lang="fr-FR" dirty="0"/>
              <a:t> by </a:t>
            </a:r>
            <a:r>
              <a:rPr lang="fr-FR" dirty="0" err="1"/>
              <a:t>adding</a:t>
            </a:r>
            <a:r>
              <a:rPr lang="fr-FR" dirty="0"/>
              <a:t> IR-</a:t>
            </a:r>
            <a:r>
              <a:rPr lang="fr-FR" dirty="0" err="1"/>
              <a:t>LEDs</a:t>
            </a:r>
            <a:r>
              <a:rPr lang="fr-FR" dirty="0"/>
              <a:t>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8748968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</Words>
  <Application>Microsoft Office PowerPoint</Application>
  <PresentationFormat>Grand écran</PresentationFormat>
  <Paragraphs>29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Thème Office</vt:lpstr>
      <vt:lpstr>Eye and AI</vt:lpstr>
      <vt:lpstr>Previous research focus</vt:lpstr>
      <vt:lpstr>Summary table</vt:lpstr>
      <vt:lpstr>Dry eye – Detectable symptoms</vt:lpstr>
      <vt:lpstr>Required equipments and technologies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Ferrando-tello</dc:creator>
  <cp:lastModifiedBy>Paul Ferrando-tello</cp:lastModifiedBy>
  <cp:revision>1</cp:revision>
  <dcterms:created xsi:type="dcterms:W3CDTF">2026-05-15T03:51:11Z</dcterms:created>
  <dcterms:modified xsi:type="dcterms:W3CDTF">2026-05-15T06:21:38Z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b7595bc-492f-4d88-9880-737c41c1bf4b_Enabled">
    <vt:lpwstr>true</vt:lpwstr>
  </property>
  <property fmtid="{D5CDD505-2E9C-101B-9397-08002B2CF9AE}" pid="3" name="MSIP_Label_fb7595bc-492f-4d88-9880-737c41c1bf4b_SetDate">
    <vt:lpwstr>2026-05-15T06:21:14Z</vt:lpwstr>
  </property>
  <property fmtid="{D5CDD505-2E9C-101B-9397-08002B2CF9AE}" pid="4" name="MSIP_Label_fb7595bc-492f-4d88-9880-737c41c1bf4b_Method">
    <vt:lpwstr>Standard</vt:lpwstr>
  </property>
  <property fmtid="{D5CDD505-2E9C-101B-9397-08002B2CF9AE}" pid="5" name="MSIP_Label_fb7595bc-492f-4d88-9880-737c41c1bf4b_Name">
    <vt:lpwstr>Public</vt:lpwstr>
  </property>
  <property fmtid="{D5CDD505-2E9C-101B-9397-08002B2CF9AE}" pid="6" name="MSIP_Label_fb7595bc-492f-4d88-9880-737c41c1bf4b_SiteId">
    <vt:lpwstr>430c3e75-ff03-445f-b3f4-ae2809a0b10b</vt:lpwstr>
  </property>
  <property fmtid="{D5CDD505-2E9C-101B-9397-08002B2CF9AE}" pid="7" name="MSIP_Label_fb7595bc-492f-4d88-9880-737c41c1bf4b_ActionId">
    <vt:lpwstr>5f1b9e78-3b48-41e5-96c1-13e263b835cf</vt:lpwstr>
  </property>
  <property fmtid="{D5CDD505-2E9C-101B-9397-08002B2CF9AE}" pid="8" name="MSIP_Label_fb7595bc-492f-4d88-9880-737c41c1bf4b_ContentBits">
    <vt:lpwstr>0</vt:lpwstr>
  </property>
  <property fmtid="{D5CDD505-2E9C-101B-9397-08002B2CF9AE}" pid="9" name="MSIP_Label_fb7595bc-492f-4d88-9880-737c41c1bf4b_Tag">
    <vt:lpwstr>10, 3, 0, 1</vt:lpwstr>
  </property>
</Properties>
</file>